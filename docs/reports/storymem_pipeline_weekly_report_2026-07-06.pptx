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长视频生成 Agent：系统 Pipeline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目标：用成熟 8–10s 短视频生成 API，通过记忆、检索、评估与人工审查组织成长视频生成流程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剧本 / Shot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2807" y="2935224"/>
            <a:ext cx="347473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视觉元素计划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3872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历史参考选择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Memory Retrieval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8464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3212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B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Prompt 组织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可人工编辑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3056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7804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Seedance 生成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短视频 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7648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2396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关键帧维护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VLM + Scoring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22408" y="2935224"/>
            <a:ext cx="16459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87000" y="2514600"/>
            <a:ext cx="15087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当前总输出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Prefix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8620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CJK SC"/>
              </a:rPr>
              <a:t>核心分工：短期连续性由 Smooth 处理；跨 Shot 一致性由 Visual Element Memory 处理；最终质量通过中间状态审查与测评闭环改进。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634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系统输入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剧本 JSON 或人工新增 Shot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每个 Shot：prompt、cut、mode、duration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项目级：sink/retrieve 数量、选择策略、评分权重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63440"/>
            <a:ext cx="64008" cy="141732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46634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系统输出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每个 Shot 的短视频与关键帧记忆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可审计的 Step 产物、prompt 与日志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随 completed prefix 增长的当前总视频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663440"/>
            <a:ext cx="64008" cy="1417320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46634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方法定位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不是训练视频模型，而是构建生成 agent pipeline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重点在可控引用、可解释检索、可消融实验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4663440"/>
            <a:ext cx="64008" cy="1417320"/>
          </a:xfrm>
          <a:prstGeom prst="rect">
            <a:avLst/>
          </a:prstGeom>
          <a:solidFill>
            <a:srgbClr val="AB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Notebook 式执行流程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每个 Shot 被拆成可独立运行、检查和编辑的步骤；Run all 仍支持无人值守推进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50292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SC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481328"/>
            <a:ext cx="233172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SC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1481328"/>
            <a:ext cx="150876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SC"/>
              </a:rPr>
              <a:t>算法主体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481328"/>
            <a:ext cx="7086600" cy="347472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SC"/>
              </a:rPr>
              <a:t>产物 / 作用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20"/>
            <a:ext cx="502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ctr"/>
            <a:r>
              <a:rPr sz="980" b="1">
                <a:solidFill>
                  <a:srgbClr val="1F2937"/>
                </a:solidFill>
                <a:latin typeface="Noto Sans CJK S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874520"/>
            <a:ext cx="23317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1">
                <a:solidFill>
                  <a:srgbClr val="1F2937"/>
                </a:solidFill>
                <a:latin typeface="Noto Sans CJK SC"/>
              </a:rPr>
              <a:t>Shot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874520"/>
            <a:ext cx="15087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0">
                <a:solidFill>
                  <a:srgbClr val="1F2937"/>
                </a:solidFill>
                <a:latin typeface="Noto Sans CJK SC"/>
              </a:rPr>
              <a:t>人工 / 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874520"/>
            <a:ext cx="7086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40" b="0">
                <a:solidFill>
                  <a:srgbClr val="5D6570"/>
                </a:solidFill>
                <a:latin typeface="Noto Sans CJK SC"/>
              </a:rPr>
              <a:t>设定 prompt、cut、generation mode、duration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59736"/>
            <a:ext cx="50292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ctr"/>
            <a:r>
              <a:rPr sz="980" b="1">
                <a:solidFill>
                  <a:srgbClr val="1F2937"/>
                </a:solidFill>
                <a:latin typeface="Noto Sans CJK S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459736"/>
            <a:ext cx="233172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1">
                <a:solidFill>
                  <a:srgbClr val="1F2937"/>
                </a:solidFill>
                <a:latin typeface="Noto Sans CJK SC"/>
              </a:rPr>
              <a:t>Visual Elements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2459736"/>
            <a:ext cx="150876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0">
                <a:solidFill>
                  <a:srgbClr val="1F2937"/>
                </a:solidFill>
                <a:latin typeface="Noto Sans CJK SC"/>
              </a:rPr>
              <a:t>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459736"/>
            <a:ext cx="708660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40" b="0">
                <a:solidFill>
                  <a:srgbClr val="5D6570"/>
                </a:solidFill>
                <a:latin typeface="Noto Sans CJK SC"/>
              </a:rPr>
              <a:t>维护当前应参考 / 应排除 / 不确定 / 新元素集合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44952"/>
            <a:ext cx="502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ctr"/>
            <a:r>
              <a:rPr sz="980" b="1">
                <a:solidFill>
                  <a:srgbClr val="1F2937"/>
                </a:solidFill>
                <a:latin typeface="Noto Sans CJK S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044952"/>
            <a:ext cx="23317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1">
                <a:solidFill>
                  <a:srgbClr val="1F2937"/>
                </a:solidFill>
                <a:latin typeface="Noto Sans CJK SC"/>
              </a:rPr>
              <a:t>Historical Reference Selection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39" y="3044952"/>
            <a:ext cx="15087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0">
                <a:solidFill>
                  <a:srgbClr val="1F2937"/>
                </a:solidFill>
                <a:latin typeface="Noto Sans CJK SC"/>
              </a:rPr>
              <a:t>Scoring + 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044952"/>
            <a:ext cx="7086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40" b="0">
                <a:solidFill>
                  <a:srgbClr val="5D6570"/>
                </a:solidFill>
                <a:latin typeface="Noto Sans CJK SC"/>
              </a:rPr>
              <a:t>从历史关键帧中选择参考图，并给出 reference guidance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30168"/>
            <a:ext cx="50292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ctr"/>
            <a:r>
              <a:rPr sz="980" b="1">
                <a:solidFill>
                  <a:srgbClr val="1F2937"/>
                </a:solidFill>
                <a:latin typeface="Noto Sans CJK SC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630168"/>
            <a:ext cx="233172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1">
                <a:solidFill>
                  <a:srgbClr val="1F2937"/>
                </a:solidFill>
                <a:latin typeface="Noto Sans CJK SC"/>
              </a:rPr>
              <a:t>Seedance Prompt Composition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39" y="3630168"/>
            <a:ext cx="150876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0">
                <a:solidFill>
                  <a:srgbClr val="1F2937"/>
                </a:solidFill>
                <a:latin typeface="Noto Sans CJK SC"/>
              </a:rPr>
              <a:t>规则组装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3630168"/>
            <a:ext cx="708660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40" b="0">
                <a:solidFill>
                  <a:srgbClr val="5D6570"/>
                </a:solidFill>
                <a:latin typeface="Noto Sans CJK SC"/>
              </a:rPr>
              <a:t>整合剧本、元素计划、参考图描述与客观约束，可人工改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215384"/>
            <a:ext cx="502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ctr"/>
            <a:r>
              <a:rPr sz="980" b="1">
                <a:solidFill>
                  <a:srgbClr val="1F2937"/>
                </a:solidFill>
                <a:latin typeface="Noto Sans CJK SC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4215384"/>
            <a:ext cx="23317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1">
                <a:solidFill>
                  <a:srgbClr val="1F2937"/>
                </a:solidFill>
                <a:latin typeface="Noto Sans CJK SC"/>
              </a:rPr>
              <a:t>Seedance Video Generation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4215384"/>
            <a:ext cx="15087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0">
                <a:solidFill>
                  <a:srgbClr val="1F2937"/>
                </a:solidFill>
                <a:latin typeface="Noto Sans CJK SC"/>
              </a:rPr>
              <a:t>短视频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215384"/>
            <a:ext cx="7086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40" b="0">
                <a:solidFill>
                  <a:srgbClr val="5D6570"/>
                </a:solidFill>
                <a:latin typeface="Noto Sans CJK SC"/>
              </a:rPr>
              <a:t>提交文本和参考媒体，生成当前 Shot 视频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800600"/>
            <a:ext cx="50292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ctr"/>
            <a:r>
              <a:rPr sz="980" b="1">
                <a:solidFill>
                  <a:srgbClr val="1F2937"/>
                </a:solidFill>
                <a:latin typeface="Noto Sans CJK SC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4800600"/>
            <a:ext cx="233172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1">
                <a:solidFill>
                  <a:srgbClr val="1F2937"/>
                </a:solidFill>
                <a:latin typeface="Noto Sans CJK SC"/>
              </a:rPr>
              <a:t>Keyframe Maintaining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39" y="4800600"/>
            <a:ext cx="150876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80" b="0">
                <a:solidFill>
                  <a:srgbClr val="1F2937"/>
                </a:solidFill>
                <a:latin typeface="Noto Sans CJK SC"/>
              </a:rPr>
              <a:t>Keyframe + VLM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4800600"/>
            <a:ext cx="7086600" cy="53035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45720" tIns="54864"/>
          <a:lstStyle/>
          <a:p>
            <a:pPr algn="l"/>
            <a:r>
              <a:rPr sz="940" b="0">
                <a:solidFill>
                  <a:srgbClr val="5D6570"/>
                </a:solidFill>
                <a:latin typeface="Noto Sans CJK SC"/>
              </a:rPr>
              <a:t>抽取候选关键帧，标注元素和整体画面描述，进入后续记忆池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486400"/>
            <a:ext cx="1097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F2937"/>
                </a:solidFill>
                <a:latin typeface="Noto Sans CJK SC"/>
              </a:rPr>
              <a:t>执行语义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468112"/>
            <a:ext cx="9875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D6570"/>
                </a:solidFill>
                <a:latin typeface="Noto Sans CJK SC"/>
              </a:rPr>
              <a:t>Step 完成后保存 Attempt 快照；人工 Edit 会重置下游；Run all 在 Step 间可加入 review delay，必要时暂停到人工确认。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记忆、连续性与测评闭环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生成流程不只输出视频，还持续产出可诊断的中间证据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已完成 Shot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视频 + produced keyframes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92024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Visual Memory Pool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元素标注 + 整体描述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Reference Selection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Top-K / Greedy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920240"/>
            <a:ext cx="2148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B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下一 Shot Prompt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局部约束 + 整体指导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331720"/>
            <a:ext cx="73152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2331720"/>
            <a:ext cx="73152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2331720"/>
            <a:ext cx="68580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69880" y="2743200"/>
            <a:ext cx="0" cy="91440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72600" y="3657600"/>
            <a:ext cx="2331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Seedance 生成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当前 Shot 视频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686800" y="4069080"/>
            <a:ext cx="68580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46520" y="3657600"/>
            <a:ext cx="2331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Keyframe Maintaining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候选帧进入记忆池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806440" y="4069080"/>
            <a:ext cx="64008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66160" y="3657600"/>
            <a:ext cx="2331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Prefix Assembly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当前总视频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926080" y="2331720"/>
            <a:ext cx="640080" cy="173736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0749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短期连续性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非 cut Shot 可用 Smooth：上一段尾部视频作为 reference_video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拼接时用 RIFE 替换边界帧，避免硬切跳变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64008" cy="105156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50749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中长期一致性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以视觉元素集合为中心：角色、场景、物体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参考图选择显式记录覆盖、排除和使用说明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5074920"/>
            <a:ext cx="64008" cy="1051560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50749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测评闭环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VBench-Long 提供一致性 / 运动 / 质量指标入口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Web 中间产物用于解释指标与人工 case 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5074920"/>
            <a:ext cx="64008" cy="1051560"/>
          </a:xfrm>
          <a:prstGeom prst="rect">
            <a:avLst/>
          </a:prstGeom>
          <a:solidFill>
            <a:srgbClr val="6C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本周算法改进 1：Visual Element Memory 从“可见元素”扩展到“可用参考”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核心思想：参考帧不仅要包含元素，还要说明整张图如何被使用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Visual Elements Plan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LLM 维护跨 Shot 视觉元素集合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每个元素给出状态：应参考 / 应排除 / 不确定 / 新元素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Reflect 对名称、类型、状态和备注进行自动检查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74519"/>
          </a:xfrm>
          <a:prstGeom prst="rect">
            <a:avLst/>
          </a:prstGeom>
          <a:solidFill>
            <a:srgbClr val="6C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Holistic Description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VLM 对 produced keyframe 输出整体画面描述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包含人物 / 物体 / 环境构成、构图 / 动作 / 氛围、剧情关系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解决“只知道元素可见，但不知道整张图该怎么参考”的问题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64008" cy="1874519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Reference Guidance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历史参考选择后，LLM 基于前序剧情与关键帧文本生成使用指引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说明为什么选这张图，以及生成时应如何整体参考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保留客观评分，同时增强 prompt 的自然语言解释层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17320"/>
            <a:ext cx="64008" cy="1874519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794760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2937"/>
                </a:solidFill>
                <a:latin typeface="Noto Sans CJK SC"/>
              </a:rPr>
              <a:t>Prompt 中的参考图说明结构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394960" cy="1554480"/>
          </a:xfrm>
          <a:prstGeom prst="roundRect">
            <a:avLst/>
          </a:prstGeom>
          <a:solidFill>
            <a:srgbClr val="F1F4F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1F2937"/>
                </a:solidFill>
                <a:latin typeface="DejaVu Sans Mono"/>
              </a:rPr>
              <a:t>参考图片 Image N 来自 Scene / Shot：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[整体画面描述 holistic_description]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[主观选择理由与应用指引 reference_guidance]</a:t>
            </a:r>
            <a:br/>
            <a:br/>
            <a:r>
              <a:rPr sz="1050">
                <a:solidFill>
                  <a:srgbClr val="1F2937"/>
                </a:solidFill>
                <a:latin typeface="DejaVu Sans Mono"/>
              </a:rPr>
              <a:t># 客观参考约束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应参考其中的：...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不应引入其中的：...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069080"/>
            <a:ext cx="4617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算法收益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局部元素约束：防止角色、物体、场景漂移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整体画面语义：减少“碎片式参考”造成的错误引入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中间结果可编辑：支持人工修正和后续 Reflect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069080"/>
            <a:ext cx="64008" cy="1691640"/>
          </a:xfrm>
          <a:prstGeom prst="rect">
            <a:avLst/>
          </a:prstGeom>
          <a:solidFill>
            <a:srgbClr val="AB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本周算法改进 2：参考帧选择与打分机制可消融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目标：让参考选择从经验配置变成可比较、可追溯的实验变量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Noto Sans CJK SC"/>
              </a:rPr>
              <a:t>关键帧分数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DejaVu Sans Mono"/>
              </a:rPr>
              <a:t>score = Σ should_reference − Σ should_exclude + Σ optional</a:t>
            </a:r>
            <a:br/>
            <a:r>
              <a:rPr sz="1300" b="1">
                <a:solidFill>
                  <a:srgbClr val="1F2937"/>
                </a:solidFill>
                <a:latin typeface="DejaVu Sans Mono"/>
              </a:rPr>
              <a:t>单元素贡献 = state_weight × type_weight × visibility_quality × reference_quality_weight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53312"/>
            <a:ext cx="3886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Selection Mode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Greedy Coverage：优先补齐尚未 full 覆盖的 required 元素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Static Top-K：不使用 covered 状态，直接按静态分数选前 K 张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两者已作为项目级选项，便于对照实验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353312"/>
            <a:ext cx="64008" cy="160020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1920240" cy="384048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SC"/>
              </a:rPr>
              <a:t>权重组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246120"/>
            <a:ext cx="8046720" cy="384048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SC"/>
              </a:rPr>
              <a:t>当前默认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75887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3675887"/>
            <a:ext cx="80467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character 3.0 / scene 2.0 / object 1.5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151375"/>
            <a:ext cx="192024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4151375"/>
            <a:ext cx="804672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uncovered 1.0 / covered 0.2 / optional 0.1 / exclude -0.1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626864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reference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4626864"/>
            <a:ext cx="80467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full 1.0 / partial 0.2 / weak 0.1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02352"/>
            <a:ext cx="192024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5102352"/>
            <a:ext cx="804672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bbox 面积：&lt;1% 为 0.3，&lt;10% 为 0.6，其余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AA4036"/>
                </a:solidFill>
                <a:latin typeface="Noto Sans CJK SC"/>
              </a:rPr>
              <a:t>新增 reference_quality：人物 full 需要人脸清晰可见；partial/weak 仍可低权重参考，但不计入 covered 集合。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本周算法改进 3：测评与下一步实验设计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当前重点从“单次能跑通”转向“策略可比较、错误可诊断、结果可复现”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已打通的实验入口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VBench-Long 简单一致性测评：subject/background consistency、motion、quality 等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单视频记忆策略消融：验证不同参考配置下的中间结果记录方式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Notebook 中记录 Step 级状态、参考帧、prompt、VLM 标注与失败原因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近期优先消融轴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无检索 vs Static Top-K vs Greedy Coverage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不同 reference_quality / exclude / covered 权重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是否启用 holistic_description 与 reference_guidance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Smooth 开关与 reference_video 尾段长度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64008" cy="182880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703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需要重点观察的错误类型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人物出现但不含清晰脸部，导致身份参考不足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参考帧包含应排除元素，引起错误泄漏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过多相似参考帧造成冗余，或关键角色未被 full 覆盖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VBench 指标与人工观感不一致时，回查 Step 级中间状态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03320"/>
            <a:ext cx="64008" cy="1828800"/>
          </a:xfrm>
          <a:prstGeom prst="rect">
            <a:avLst/>
          </a:prstGeom>
          <a:solidFill>
            <a:srgbClr val="AB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3703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下一步算法方向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Historical Reference Selection Reflect：自动检查已选参考帧是否真正适合当前 shot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Keyframe Maintaining Reflect：筛掉低价值 / 重复 / 标注不完整的 produced memory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形成“客观指标 + 人工评分 + 中间过程诊断”的实验报告模板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703320"/>
            <a:ext cx="64008" cy="1828800"/>
          </a:xfrm>
          <a:prstGeom prst="rect">
            <a:avLst/>
          </a:prstGeom>
          <a:solidFill>
            <a:srgbClr val="6C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05332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Noto Sans CJK SC"/>
              </a:rPr>
              <a:t>结论：当前系统已具备长视频生成 agent 的可实验骨架；下一阶段重点是更系统的消融、测评和 Reflect 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